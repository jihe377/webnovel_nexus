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3" r:id="rId1"/>
  </p:sldMasterIdLst>
  <p:notesMasterIdLst>
    <p:notesMasterId r:id="rId12"/>
  </p:notesMasterIdLst>
  <p:sldIdLst>
    <p:sldId id="256" r:id="rId2"/>
    <p:sldId id="257" r:id="rId3"/>
    <p:sldId id="287" r:id="rId4"/>
    <p:sldId id="288" r:id="rId5"/>
    <p:sldId id="290" r:id="rId6"/>
    <p:sldId id="294" r:id="rId7"/>
    <p:sldId id="293" r:id="rId8"/>
    <p:sldId id="291" r:id="rId9"/>
    <p:sldId id="292" r:id="rId10"/>
    <p:sldId id="282"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E1E3"/>
    <a:srgbClr val="EAF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B572724-FEB2-4783-861A-A03C432B326A}">
  <a:tblStyle styleId="{7B572724-FEB2-4783-861A-A03C432B326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9782738-B952-4217-B974-CD37E5BD0BB1}"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554"/>
    <p:restoredTop sz="73492"/>
  </p:normalViewPr>
  <p:slideViewPr>
    <p:cSldViewPr snapToGrid="0">
      <p:cViewPr varScale="1">
        <p:scale>
          <a:sx n="97" d="100"/>
          <a:sy n="97" d="100"/>
        </p:scale>
        <p:origin x="200" y="5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4a881ef59b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4a881ef59b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4a89db121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89db121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213ACECD-230E-EB95-A738-2A8F08596346}"/>
            </a:ext>
          </a:extLst>
        </p:cNvPr>
        <p:cNvGrpSpPr/>
        <p:nvPr/>
      </p:nvGrpSpPr>
      <p:grpSpPr>
        <a:xfrm>
          <a:off x="0" y="0"/>
          <a:ext cx="0" cy="0"/>
          <a:chOff x="0" y="0"/>
          <a:chExt cx="0" cy="0"/>
        </a:xfrm>
      </p:grpSpPr>
      <p:sp>
        <p:nvSpPr>
          <p:cNvPr id="195" name="Google Shape;195;g34a89db1216_0_16:notes">
            <a:extLst>
              <a:ext uri="{FF2B5EF4-FFF2-40B4-BE49-F238E27FC236}">
                <a16:creationId xmlns:a16="http://schemas.microsoft.com/office/drawing/2014/main" id="{7828A89C-A3BF-CA6F-9FF8-F0E1B00DD5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89db1216_0_16:notes">
            <a:extLst>
              <a:ext uri="{FF2B5EF4-FFF2-40B4-BE49-F238E27FC236}">
                <a16:creationId xmlns:a16="http://schemas.microsoft.com/office/drawing/2014/main" id="{2090D13C-C799-CCB1-02E1-D40D5D3A6A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043690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0DCA9833-033F-6053-183C-520EB184E7C4}"/>
            </a:ext>
          </a:extLst>
        </p:cNvPr>
        <p:cNvGrpSpPr/>
        <p:nvPr/>
      </p:nvGrpSpPr>
      <p:grpSpPr>
        <a:xfrm>
          <a:off x="0" y="0"/>
          <a:ext cx="0" cy="0"/>
          <a:chOff x="0" y="0"/>
          <a:chExt cx="0" cy="0"/>
        </a:xfrm>
      </p:grpSpPr>
      <p:sp>
        <p:nvSpPr>
          <p:cNvPr id="195" name="Google Shape;195;g34a89db1216_0_16:notes">
            <a:extLst>
              <a:ext uri="{FF2B5EF4-FFF2-40B4-BE49-F238E27FC236}">
                <a16:creationId xmlns:a16="http://schemas.microsoft.com/office/drawing/2014/main" id="{D9B035D1-2D20-7627-4DD5-C1EB347F53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89db1216_0_16:notes">
            <a:extLst>
              <a:ext uri="{FF2B5EF4-FFF2-40B4-BE49-F238E27FC236}">
                <a16:creationId xmlns:a16="http://schemas.microsoft.com/office/drawing/2014/main" id="{8FE1399E-A44F-8DF8-231A-177EC9B883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7570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9D959F89-9B48-8084-8C6C-088A7452B6D2}"/>
            </a:ext>
          </a:extLst>
        </p:cNvPr>
        <p:cNvGrpSpPr/>
        <p:nvPr/>
      </p:nvGrpSpPr>
      <p:grpSpPr>
        <a:xfrm>
          <a:off x="0" y="0"/>
          <a:ext cx="0" cy="0"/>
          <a:chOff x="0" y="0"/>
          <a:chExt cx="0" cy="0"/>
        </a:xfrm>
      </p:grpSpPr>
      <p:sp>
        <p:nvSpPr>
          <p:cNvPr id="195" name="Google Shape;195;g34a89db1216_0_16:notes">
            <a:extLst>
              <a:ext uri="{FF2B5EF4-FFF2-40B4-BE49-F238E27FC236}">
                <a16:creationId xmlns:a16="http://schemas.microsoft.com/office/drawing/2014/main" id="{B9CB11AC-CE51-A8E2-C8AC-C3E1752A2B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89db1216_0_16:notes">
            <a:extLst>
              <a:ext uri="{FF2B5EF4-FFF2-40B4-BE49-F238E27FC236}">
                <a16:creationId xmlns:a16="http://schemas.microsoft.com/office/drawing/2014/main" id="{1F03118F-055A-DBAD-80A4-41D015C5F3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66298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59E2F704-DF39-49D4-14B8-3352CF7BA302}"/>
            </a:ext>
          </a:extLst>
        </p:cNvPr>
        <p:cNvGrpSpPr/>
        <p:nvPr/>
      </p:nvGrpSpPr>
      <p:grpSpPr>
        <a:xfrm>
          <a:off x="0" y="0"/>
          <a:ext cx="0" cy="0"/>
          <a:chOff x="0" y="0"/>
          <a:chExt cx="0" cy="0"/>
        </a:xfrm>
      </p:grpSpPr>
      <p:sp>
        <p:nvSpPr>
          <p:cNvPr id="195" name="Google Shape;195;g34a89db1216_0_16:notes">
            <a:extLst>
              <a:ext uri="{FF2B5EF4-FFF2-40B4-BE49-F238E27FC236}">
                <a16:creationId xmlns:a16="http://schemas.microsoft.com/office/drawing/2014/main" id="{E1A4B77A-2BBF-B4D1-88CE-034CCBDD08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89db1216_0_16:notes">
            <a:extLst>
              <a:ext uri="{FF2B5EF4-FFF2-40B4-BE49-F238E27FC236}">
                <a16:creationId xmlns:a16="http://schemas.microsoft.com/office/drawing/2014/main" id="{323859C2-489F-3C0F-ECD4-E217167800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7827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EE14DDA6-DBF7-15F9-BF74-005DD9E9F27F}"/>
            </a:ext>
          </a:extLst>
        </p:cNvPr>
        <p:cNvGrpSpPr/>
        <p:nvPr/>
      </p:nvGrpSpPr>
      <p:grpSpPr>
        <a:xfrm>
          <a:off x="0" y="0"/>
          <a:ext cx="0" cy="0"/>
          <a:chOff x="0" y="0"/>
          <a:chExt cx="0" cy="0"/>
        </a:xfrm>
      </p:grpSpPr>
      <p:sp>
        <p:nvSpPr>
          <p:cNvPr id="195" name="Google Shape;195;g34a89db1216_0_16:notes">
            <a:extLst>
              <a:ext uri="{FF2B5EF4-FFF2-40B4-BE49-F238E27FC236}">
                <a16:creationId xmlns:a16="http://schemas.microsoft.com/office/drawing/2014/main" id="{4B97C8AA-94BD-973E-4E38-4E1277B34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89db1216_0_16:notes">
            <a:extLst>
              <a:ext uri="{FF2B5EF4-FFF2-40B4-BE49-F238E27FC236}">
                <a16:creationId xmlns:a16="http://schemas.microsoft.com/office/drawing/2014/main" id="{A8DB872A-1FF0-1796-FF9A-88F95B541D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1268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8944A9FC-1323-B41F-7DC3-B0858F142E71}"/>
            </a:ext>
          </a:extLst>
        </p:cNvPr>
        <p:cNvGrpSpPr/>
        <p:nvPr/>
      </p:nvGrpSpPr>
      <p:grpSpPr>
        <a:xfrm>
          <a:off x="0" y="0"/>
          <a:ext cx="0" cy="0"/>
          <a:chOff x="0" y="0"/>
          <a:chExt cx="0" cy="0"/>
        </a:xfrm>
      </p:grpSpPr>
      <p:sp>
        <p:nvSpPr>
          <p:cNvPr id="195" name="Google Shape;195;g34a89db1216_0_16:notes">
            <a:extLst>
              <a:ext uri="{FF2B5EF4-FFF2-40B4-BE49-F238E27FC236}">
                <a16:creationId xmlns:a16="http://schemas.microsoft.com/office/drawing/2014/main" id="{A4339CB4-55E1-2B07-F4ED-08B196F78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89db1216_0_16:notes">
            <a:extLst>
              <a:ext uri="{FF2B5EF4-FFF2-40B4-BE49-F238E27FC236}">
                <a16:creationId xmlns:a16="http://schemas.microsoft.com/office/drawing/2014/main" id="{CB7512A4-4752-BA8C-D6AC-1C37624770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5041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46021F30-8AA9-97A0-B012-60DC5C1E3862}"/>
            </a:ext>
          </a:extLst>
        </p:cNvPr>
        <p:cNvGrpSpPr/>
        <p:nvPr/>
      </p:nvGrpSpPr>
      <p:grpSpPr>
        <a:xfrm>
          <a:off x="0" y="0"/>
          <a:ext cx="0" cy="0"/>
          <a:chOff x="0" y="0"/>
          <a:chExt cx="0" cy="0"/>
        </a:xfrm>
      </p:grpSpPr>
      <p:sp>
        <p:nvSpPr>
          <p:cNvPr id="195" name="Google Shape;195;g34a89db1216_0_16:notes">
            <a:extLst>
              <a:ext uri="{FF2B5EF4-FFF2-40B4-BE49-F238E27FC236}">
                <a16:creationId xmlns:a16="http://schemas.microsoft.com/office/drawing/2014/main" id="{6068F410-3A52-A314-C87C-418D848014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89db1216_0_16:notes">
            <a:extLst>
              <a:ext uri="{FF2B5EF4-FFF2-40B4-BE49-F238E27FC236}">
                <a16:creationId xmlns:a16="http://schemas.microsoft.com/office/drawing/2014/main" id="{F9E7E661-1433-2F95-9EB2-1829B8DF82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1129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4ea317db65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4ea317db65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8" name="Google Shape;5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1" name="Google Shape;6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4" name="Google Shape;6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5" name="Google Shape;6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8" name="Google Shape;68;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0" name="Google Shape;70;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6" name="Google Shape;76;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7" name="Google Shape;77;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0" name="Google Shape;8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1"/>
        <p:cNvGrpSpPr/>
        <p:nvPr/>
      </p:nvGrpSpPr>
      <p:grpSpPr>
        <a:xfrm>
          <a:off x="0" y="0"/>
          <a:ext cx="0" cy="0"/>
          <a:chOff x="0" y="0"/>
          <a:chExt cx="0" cy="0"/>
        </a:xfrm>
      </p:grpSpPr>
      <p:sp>
        <p:nvSpPr>
          <p:cNvPr id="82" name="Google Shape;82;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4" name="Google Shape;84;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5" name="Google Shape;85;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6" name="Google Shape;8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7"/>
        <p:cNvGrpSpPr/>
        <p:nvPr/>
      </p:nvGrpSpPr>
      <p:grpSpPr>
        <a:xfrm>
          <a:off x="0" y="0"/>
          <a:ext cx="0" cy="0"/>
          <a:chOff x="0" y="0"/>
          <a:chExt cx="0" cy="0"/>
        </a:xfrm>
      </p:grpSpPr>
      <p:sp>
        <p:nvSpPr>
          <p:cNvPr id="88" name="Google Shape;88;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89" name="Google Shape;8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
        <p:cNvGrpSpPr/>
        <p:nvPr/>
      </p:nvGrpSpPr>
      <p:grpSpPr>
        <a:xfrm>
          <a:off x="0" y="0"/>
          <a:ext cx="0" cy="0"/>
          <a:chOff x="0" y="0"/>
          <a:chExt cx="0" cy="0"/>
        </a:xfrm>
      </p:grpSpPr>
      <p:sp>
        <p:nvSpPr>
          <p:cNvPr id="91" name="Google Shape;91;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2" name="Google Shape;92;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3" name="Google Shape;93;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4"/>
        <p:cNvGrpSpPr/>
        <p:nvPr/>
      </p:nvGrpSpPr>
      <p:grpSpPr>
        <a:xfrm>
          <a:off x="0" y="0"/>
          <a:ext cx="0" cy="0"/>
          <a:chOff x="0" y="0"/>
          <a:chExt cx="0" cy="0"/>
        </a:xfrm>
      </p:grpSpPr>
      <p:sp>
        <p:nvSpPr>
          <p:cNvPr id="95" name="Google Shape;95;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D0E0E3"/>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54" name="Google Shape;54;p13"/>
          <p:cNvPicPr preferRelativeResize="0"/>
          <p:nvPr/>
        </p:nvPicPr>
        <p:blipFill>
          <a:blip r:embed="rId13">
            <a:alphaModFix/>
          </a:blip>
          <a:stretch>
            <a:fillRect/>
          </a:stretch>
        </p:blipFill>
        <p:spPr>
          <a:xfrm>
            <a:off x="7657600" y="83400"/>
            <a:ext cx="1449325" cy="454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xing-z10.github.io/personal-website/index.html" TargetMode="External"/><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drive.google.com/file/d/1LrS_I2lnq5mEk4QKG3pIDO5H2h2WqBBg/view?usp=sharing" TargetMode="Externa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49"/>
          <p:cNvSpPr txBox="1">
            <a:spLocks noGrp="1"/>
          </p:cNvSpPr>
          <p:nvPr>
            <p:ph type="ctrTitle"/>
          </p:nvPr>
        </p:nvSpPr>
        <p:spPr>
          <a:xfrm>
            <a:off x="311700" y="679925"/>
            <a:ext cx="8520600" cy="3144652"/>
          </a:xfrm>
          <a:prstGeom prst="rect">
            <a:avLst/>
          </a:prstGeom>
        </p:spPr>
        <p:txBody>
          <a:bodyPr spcFirstLastPara="1" wrap="square" lIns="91425" tIns="91425" rIns="91425" bIns="91425" anchor="b" anchorCtr="0">
            <a:noAutofit/>
          </a:bodyPr>
          <a:lstStyle/>
          <a:p>
            <a:pPr marL="0" lvl="0" indent="0" algn="ctr" rtl="0">
              <a:lnSpc>
                <a:spcPct val="100000"/>
              </a:lnSpc>
              <a:spcBef>
                <a:spcPts val="2400"/>
              </a:spcBef>
              <a:spcAft>
                <a:spcPts val="0"/>
              </a:spcAft>
              <a:buClr>
                <a:schemeClr val="dk1"/>
              </a:buClr>
              <a:buSzPts val="990"/>
              <a:buFont typeface="Arial"/>
              <a:buNone/>
            </a:pPr>
            <a:r>
              <a:rPr lang="en-US" sz="2970" b="1" dirty="0">
                <a:latin typeface="Georgia"/>
                <a:ea typeface="Georgia"/>
                <a:cs typeface="Georgia"/>
                <a:sym typeface="Georgia"/>
              </a:rPr>
              <a:t>Project </a:t>
            </a:r>
            <a:r>
              <a:rPr lang="en-US" altLang="zh-CN" sz="2970" b="1" dirty="0">
                <a:latin typeface="Georgia"/>
                <a:ea typeface="Georgia"/>
                <a:cs typeface="Georgia"/>
                <a:sym typeface="Georgia"/>
              </a:rPr>
              <a:t>2</a:t>
            </a:r>
            <a:r>
              <a:rPr lang="en-US" sz="2970" b="1" dirty="0">
                <a:latin typeface="Georgia"/>
                <a:ea typeface="Georgia"/>
                <a:cs typeface="Georgia"/>
                <a:sym typeface="Georgia"/>
              </a:rPr>
              <a:t>: </a:t>
            </a:r>
            <a:r>
              <a:rPr lang="en-US" sz="2970" b="1" dirty="0" err="1">
                <a:latin typeface="Georgia"/>
                <a:ea typeface="Georgia"/>
                <a:cs typeface="Georgia"/>
                <a:sym typeface="Georgia"/>
              </a:rPr>
              <a:t>WebNovel</a:t>
            </a:r>
            <a:r>
              <a:rPr lang="en-US" sz="2970" b="1" dirty="0">
                <a:latin typeface="Georgia"/>
                <a:ea typeface="Georgia"/>
                <a:cs typeface="Georgia"/>
                <a:sym typeface="Georgia"/>
              </a:rPr>
              <a:t> Nexus</a:t>
            </a:r>
            <a:endParaRPr sz="2970" b="1" dirty="0">
              <a:latin typeface="Georgia"/>
              <a:ea typeface="Georgia"/>
              <a:cs typeface="Georgia"/>
              <a:sym typeface="Georgia"/>
            </a:endParaRPr>
          </a:p>
          <a:p>
            <a:pPr marL="0" lvl="0" indent="0" algn="ctr" rtl="0">
              <a:spcBef>
                <a:spcPts val="600"/>
              </a:spcBef>
              <a:spcAft>
                <a:spcPts val="0"/>
              </a:spcAft>
              <a:buSzPts val="990"/>
              <a:buNone/>
            </a:pPr>
            <a:endParaRPr sz="4680" dirty="0"/>
          </a:p>
        </p:txBody>
      </p:sp>
      <p:sp>
        <p:nvSpPr>
          <p:cNvPr id="193" name="Google Shape;193;p49"/>
          <p:cNvSpPr txBox="1">
            <a:spLocks noGrp="1"/>
          </p:cNvSpPr>
          <p:nvPr>
            <p:ph type="subTitle" idx="1"/>
          </p:nvPr>
        </p:nvSpPr>
        <p:spPr>
          <a:xfrm>
            <a:off x="311700" y="3440050"/>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sz="1600" dirty="0" err="1">
                <a:solidFill>
                  <a:schemeClr val="dk1"/>
                </a:solidFill>
                <a:latin typeface="Georgia" panose="02040502050405020303" pitchFamily="18" charset="0"/>
              </a:rPr>
              <a:t>Danyan</a:t>
            </a:r>
            <a:r>
              <a:rPr lang="en-US" sz="1600" dirty="0">
                <a:solidFill>
                  <a:schemeClr val="dk1"/>
                </a:solidFill>
                <a:latin typeface="Georgia" panose="02040502050405020303" pitchFamily="18" charset="0"/>
              </a:rPr>
              <a:t> Gu, Xing ZHOU</a:t>
            </a:r>
            <a:endParaRPr sz="1600" dirty="0">
              <a:solidFill>
                <a:schemeClr val="dk1"/>
              </a:solidFill>
              <a:latin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50"/>
          <p:cNvSpPr txBox="1">
            <a:spLocks noGrp="1"/>
          </p:cNvSpPr>
          <p:nvPr>
            <p:ph type="ctrTitle"/>
          </p:nvPr>
        </p:nvSpPr>
        <p:spPr>
          <a:xfrm>
            <a:off x="167965" y="136447"/>
            <a:ext cx="4861075" cy="1038511"/>
          </a:xfrm>
          <a:prstGeom prst="rect">
            <a:avLst/>
          </a:prstGeom>
        </p:spPr>
        <p:txBody>
          <a:bodyPr spcFirstLastPara="1" wrap="square" lIns="91425" tIns="91425" rIns="91425" bIns="91425" anchor="t" anchorCtr="0">
            <a:noAutofit/>
          </a:bodyPr>
          <a:lstStyle/>
          <a:p>
            <a:pPr marL="0" lvl="0" indent="0" rtl="0">
              <a:lnSpc>
                <a:spcPct val="100000"/>
              </a:lnSpc>
              <a:spcBef>
                <a:spcPts val="2400"/>
              </a:spcBef>
              <a:spcAft>
                <a:spcPts val="0"/>
              </a:spcAft>
              <a:buClr>
                <a:schemeClr val="dk1"/>
              </a:buClr>
              <a:buSzPts val="990"/>
              <a:buFont typeface="Arial"/>
              <a:buNone/>
            </a:pPr>
            <a:r>
              <a:rPr lang="en" sz="2770" b="1" dirty="0">
                <a:latin typeface="Georgia"/>
                <a:ea typeface="Georgia"/>
                <a:cs typeface="Georgia"/>
                <a:sym typeface="Georgia"/>
              </a:rPr>
              <a:t>1. </a:t>
            </a:r>
            <a:r>
              <a:rPr lang="en-US" sz="2770" b="1" dirty="0">
                <a:latin typeface="Georgia"/>
                <a:ea typeface="Georgia"/>
                <a:cs typeface="Georgia"/>
                <a:sym typeface="Georgia"/>
              </a:rPr>
              <a:t>Project Objective</a:t>
            </a:r>
            <a:endParaRPr sz="2770" b="1" dirty="0">
              <a:latin typeface="Georgia"/>
              <a:ea typeface="Georgia"/>
              <a:cs typeface="Georgia"/>
              <a:sym typeface="Georgia"/>
            </a:endParaRPr>
          </a:p>
        </p:txBody>
      </p:sp>
      <p:sp>
        <p:nvSpPr>
          <p:cNvPr id="2" name="Google Shape;226;p54">
            <a:extLst>
              <a:ext uri="{FF2B5EF4-FFF2-40B4-BE49-F238E27FC236}">
                <a16:creationId xmlns:a16="http://schemas.microsoft.com/office/drawing/2014/main" id="{47527514-7826-B070-4F27-CA6E6E554B2A}"/>
              </a:ext>
            </a:extLst>
          </p:cNvPr>
          <p:cNvSpPr txBox="1"/>
          <p:nvPr/>
        </p:nvSpPr>
        <p:spPr>
          <a:xfrm>
            <a:off x="661181" y="1563849"/>
            <a:ext cx="7526215" cy="3105581"/>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GB" altLang="zh-CN" b="1" dirty="0"/>
              <a:t>Unify Web Fiction Discovery &amp; Management</a:t>
            </a:r>
            <a:r>
              <a:rPr lang="en-GB" altLang="zh-CN" dirty="0"/>
              <a:t>: Create a centralized platform that aggregates novels from disparate sources (Royal Road, Wattpad, AO3, etc.) into a single searchable library, enabling users to track, organize, and manage their reading across all platforms through a personal digital bookshelf.</a:t>
            </a:r>
          </a:p>
          <a:p>
            <a:pPr marL="285750" indent="-285750">
              <a:buFont typeface="Arial" panose="020B0604020202020204" pitchFamily="34" charset="0"/>
              <a:buChar char="•"/>
            </a:pPr>
            <a:endParaRPr lang="en-US" altLang="zh-CN" sz="1600" dirty="0"/>
          </a:p>
          <a:p>
            <a:pPr marL="285750" indent="-285750">
              <a:buFont typeface="Arial" panose="020B0604020202020204" pitchFamily="34" charset="0"/>
              <a:buChar char="•"/>
            </a:pPr>
            <a:r>
              <a:rPr lang="en-GB" altLang="zh-CN" b="1" dirty="0"/>
              <a:t>Enable Precision Content Discovery</a:t>
            </a:r>
            <a:r>
              <a:rPr lang="en-GB" altLang="zh-CN" dirty="0"/>
              <a:t>: Implement web-fiction-specific tagging, filtering, and recommendation systems that understand niche genres (</a:t>
            </a:r>
            <a:r>
              <a:rPr lang="en-GB" altLang="zh-CN" dirty="0" err="1"/>
              <a:t>Xianxia</a:t>
            </a:r>
            <a:r>
              <a:rPr lang="en-GB" altLang="zh-CN" dirty="0"/>
              <a:t>, </a:t>
            </a:r>
            <a:r>
              <a:rPr lang="en-GB" altLang="zh-CN" dirty="0" err="1"/>
              <a:t>LitRPG</a:t>
            </a:r>
            <a:r>
              <a:rPr lang="en-GB" altLang="zh-CN" dirty="0"/>
              <a:t>, Progression Fantasy) and support both positive tag matching and negative exclusion, allowing readers to find highly specific content while avoiding unwanted tropes.</a:t>
            </a:r>
          </a:p>
          <a:p>
            <a:pPr marL="285750" indent="-285750">
              <a:buFont typeface="Arial" panose="020B0604020202020204" pitchFamily="34" charset="0"/>
              <a:buChar char="•"/>
            </a:pPr>
            <a:endParaRPr lang="en-GB" altLang="zh-CN" dirty="0"/>
          </a:p>
          <a:p>
            <a:pPr marL="285750" indent="-285750">
              <a:buFont typeface="Arial" panose="020B0604020202020204" pitchFamily="34" charset="0"/>
              <a:buChar char="•"/>
            </a:pPr>
            <a:r>
              <a:rPr lang="en-GB" altLang="zh-CN" b="1" dirty="0"/>
              <a:t>Build Community-Centric Engagement</a:t>
            </a:r>
            <a:r>
              <a:rPr lang="en-GB" altLang="zh-CN" dirty="0"/>
              <a:t>: Foster a specialized community where users can contribute novel entries, write reviews using domain-specific terminology, create and share curated reading lists, and receive personalized recommendations based on collective reading patterns and tag overlap analysis.</a:t>
            </a:r>
            <a:endParaRPr lang="zh-CN" altLang="zh-CN"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EAFE80B8-84D0-D909-D153-8AD2E0321FEF}"/>
            </a:ext>
          </a:extLst>
        </p:cNvPr>
        <p:cNvGrpSpPr/>
        <p:nvPr/>
      </p:nvGrpSpPr>
      <p:grpSpPr>
        <a:xfrm>
          <a:off x="0" y="0"/>
          <a:ext cx="0" cy="0"/>
          <a:chOff x="0" y="0"/>
          <a:chExt cx="0" cy="0"/>
        </a:xfrm>
      </p:grpSpPr>
      <p:sp>
        <p:nvSpPr>
          <p:cNvPr id="198" name="Google Shape;198;p50">
            <a:extLst>
              <a:ext uri="{FF2B5EF4-FFF2-40B4-BE49-F238E27FC236}">
                <a16:creationId xmlns:a16="http://schemas.microsoft.com/office/drawing/2014/main" id="{926FDF53-9D81-42FA-A68F-B0DE533791F9}"/>
              </a:ext>
            </a:extLst>
          </p:cNvPr>
          <p:cNvSpPr txBox="1">
            <a:spLocks noGrp="1"/>
          </p:cNvSpPr>
          <p:nvPr>
            <p:ph type="ctrTitle"/>
          </p:nvPr>
        </p:nvSpPr>
        <p:spPr>
          <a:xfrm>
            <a:off x="0" y="0"/>
            <a:ext cx="4861075" cy="1038511"/>
          </a:xfrm>
          <a:prstGeom prst="rect">
            <a:avLst/>
          </a:prstGeom>
        </p:spPr>
        <p:txBody>
          <a:bodyPr spcFirstLastPara="1" wrap="square" lIns="91425" tIns="91425" rIns="91425" bIns="91425" anchor="t" anchorCtr="0">
            <a:noAutofit/>
          </a:bodyPr>
          <a:lstStyle/>
          <a:p>
            <a:pPr marL="0" lvl="0" indent="0" rtl="0">
              <a:lnSpc>
                <a:spcPct val="100000"/>
              </a:lnSpc>
              <a:spcBef>
                <a:spcPts val="2400"/>
              </a:spcBef>
              <a:spcAft>
                <a:spcPts val="0"/>
              </a:spcAft>
              <a:buClr>
                <a:schemeClr val="dk1"/>
              </a:buClr>
              <a:buSzPts val="990"/>
              <a:buFont typeface="Arial"/>
              <a:buNone/>
            </a:pPr>
            <a:r>
              <a:rPr lang="en" sz="2770" b="1" dirty="0">
                <a:latin typeface="Georgia"/>
                <a:ea typeface="Georgia"/>
                <a:cs typeface="Georgia"/>
                <a:sym typeface="Georgia"/>
              </a:rPr>
              <a:t>2. </a:t>
            </a:r>
            <a:r>
              <a:rPr lang="en-US" sz="2770" b="1" dirty="0">
                <a:latin typeface="Georgia"/>
                <a:ea typeface="Georgia"/>
                <a:cs typeface="Georgia"/>
                <a:sym typeface="Georgia"/>
              </a:rPr>
              <a:t>User Personas</a:t>
            </a:r>
            <a:endParaRPr sz="2770" b="1" dirty="0">
              <a:latin typeface="Georgia"/>
              <a:ea typeface="Georgia"/>
              <a:cs typeface="Georgia"/>
              <a:sym typeface="Georgia"/>
            </a:endParaRPr>
          </a:p>
        </p:txBody>
      </p:sp>
      <p:sp>
        <p:nvSpPr>
          <p:cNvPr id="3" name="圆角矩形 2">
            <a:extLst>
              <a:ext uri="{FF2B5EF4-FFF2-40B4-BE49-F238E27FC236}">
                <a16:creationId xmlns:a16="http://schemas.microsoft.com/office/drawing/2014/main" id="{27FBECFE-3C0E-CB33-2CEF-80138B79F5B4}"/>
              </a:ext>
            </a:extLst>
          </p:cNvPr>
          <p:cNvSpPr/>
          <p:nvPr/>
        </p:nvSpPr>
        <p:spPr>
          <a:xfrm>
            <a:off x="81813" y="1162269"/>
            <a:ext cx="6148294" cy="1237332"/>
          </a:xfrm>
          <a:prstGeom prst="roundRect">
            <a:avLst/>
          </a:prstGeom>
          <a:solidFill>
            <a:srgbClr val="EAFEFF">
              <a:alpha val="600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Google Shape;226;p54">
            <a:extLst>
              <a:ext uri="{FF2B5EF4-FFF2-40B4-BE49-F238E27FC236}">
                <a16:creationId xmlns:a16="http://schemas.microsoft.com/office/drawing/2014/main" id="{037BF567-199C-39BF-97E1-C1A0EFC49284}"/>
              </a:ext>
            </a:extLst>
          </p:cNvPr>
          <p:cNvSpPr txBox="1"/>
          <p:nvPr/>
        </p:nvSpPr>
        <p:spPr>
          <a:xfrm>
            <a:off x="302013" y="1162269"/>
            <a:ext cx="6148294" cy="1237332"/>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GB" altLang="zh-CN" sz="1600" b="1" dirty="0"/>
              <a:t>The Power Reader (Alex, 24)</a:t>
            </a:r>
            <a:endParaRPr lang="en-US" altLang="zh-CN" sz="1600" b="1" dirty="0"/>
          </a:p>
          <a:p>
            <a:pPr lvl="1"/>
            <a:endParaRPr lang="en-US" altLang="zh-CN" dirty="0"/>
          </a:p>
          <a:p>
            <a:pPr lvl="1"/>
            <a:r>
              <a:rPr lang="en-GB" altLang="zh-CN" dirty="0"/>
              <a:t>Individuals who consume a high volume of serialized web content weekly across multiple hosting sites. Alex wants one dashboard that shows all his novels with a direct link to the source.</a:t>
            </a:r>
            <a:endParaRPr lang="zh-CN" altLang="zh-CN" dirty="0"/>
          </a:p>
          <a:p>
            <a:endParaRPr lang="en-US" altLang="zh-CN" sz="1600" dirty="0"/>
          </a:p>
        </p:txBody>
      </p:sp>
      <p:sp>
        <p:nvSpPr>
          <p:cNvPr id="6" name="圆角矩形 5">
            <a:extLst>
              <a:ext uri="{FF2B5EF4-FFF2-40B4-BE49-F238E27FC236}">
                <a16:creationId xmlns:a16="http://schemas.microsoft.com/office/drawing/2014/main" id="{F0A0E83A-EDC8-A3EB-2ADA-051292CB7565}"/>
              </a:ext>
            </a:extLst>
          </p:cNvPr>
          <p:cNvSpPr/>
          <p:nvPr/>
        </p:nvSpPr>
        <p:spPr>
          <a:xfrm>
            <a:off x="1355923" y="2508449"/>
            <a:ext cx="6148294" cy="1237332"/>
          </a:xfrm>
          <a:prstGeom prst="roundRect">
            <a:avLst/>
          </a:prstGeom>
          <a:solidFill>
            <a:srgbClr val="EAFEFF">
              <a:alpha val="600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Google Shape;226;p54">
            <a:extLst>
              <a:ext uri="{FF2B5EF4-FFF2-40B4-BE49-F238E27FC236}">
                <a16:creationId xmlns:a16="http://schemas.microsoft.com/office/drawing/2014/main" id="{F4F38311-6DC1-C7E9-4F08-39662A32D639}"/>
              </a:ext>
            </a:extLst>
          </p:cNvPr>
          <p:cNvSpPr txBox="1"/>
          <p:nvPr/>
        </p:nvSpPr>
        <p:spPr>
          <a:xfrm>
            <a:off x="1492639" y="2615721"/>
            <a:ext cx="6148294" cy="1022788"/>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ltLang="zh-CN" sz="1600" b="1" dirty="0"/>
              <a:t>Persona 2: The Niche Seeker (Mei, 19)</a:t>
            </a:r>
          </a:p>
          <a:p>
            <a:r>
              <a:rPr lang="en-GB" altLang="zh-CN" dirty="0"/>
              <a:t>Mei exclusively reads </a:t>
            </a:r>
            <a:r>
              <a:rPr lang="en-GB" altLang="zh-CN" dirty="0" err="1"/>
              <a:t>Xianxia</a:t>
            </a:r>
            <a:r>
              <a:rPr lang="en-GB" altLang="zh-CN" dirty="0"/>
              <a:t>, </a:t>
            </a:r>
            <a:r>
              <a:rPr lang="en-GB" altLang="zh-CN" dirty="0" err="1"/>
              <a:t>LitRPG</a:t>
            </a:r>
            <a:r>
              <a:rPr lang="en-GB" altLang="zh-CN" dirty="0"/>
              <a:t>, and Progression Fantasy. She's frustrated that mainstream book sites either don't carry these genres or use generic tags that don't match web fiction conventions. </a:t>
            </a:r>
            <a:endParaRPr lang="en-US" altLang="zh-CN" sz="1600" dirty="0"/>
          </a:p>
          <a:p>
            <a:pPr marL="285750" lvl="1" indent="-285750">
              <a:buFont typeface="Arial" panose="020B0604020202020204" pitchFamily="34" charset="0"/>
              <a:buChar char="•"/>
            </a:pPr>
            <a:endParaRPr lang="zh-CN" altLang="zh-CN" sz="1600" dirty="0"/>
          </a:p>
        </p:txBody>
      </p:sp>
      <p:sp>
        <p:nvSpPr>
          <p:cNvPr id="8" name="圆角矩形 7">
            <a:extLst>
              <a:ext uri="{FF2B5EF4-FFF2-40B4-BE49-F238E27FC236}">
                <a16:creationId xmlns:a16="http://schemas.microsoft.com/office/drawing/2014/main" id="{277A60E8-033F-FB25-DBAB-254EC485FA52}"/>
              </a:ext>
            </a:extLst>
          </p:cNvPr>
          <p:cNvSpPr/>
          <p:nvPr/>
        </p:nvSpPr>
        <p:spPr>
          <a:xfrm>
            <a:off x="2780074" y="3853053"/>
            <a:ext cx="6148294" cy="1237332"/>
          </a:xfrm>
          <a:prstGeom prst="roundRect">
            <a:avLst/>
          </a:prstGeom>
          <a:solidFill>
            <a:srgbClr val="EAFEFF">
              <a:alpha val="6006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Google Shape;226;p54">
            <a:extLst>
              <a:ext uri="{FF2B5EF4-FFF2-40B4-BE49-F238E27FC236}">
                <a16:creationId xmlns:a16="http://schemas.microsoft.com/office/drawing/2014/main" id="{71AFF801-543D-1737-8432-CD1EB112AE89}"/>
              </a:ext>
            </a:extLst>
          </p:cNvPr>
          <p:cNvSpPr txBox="1"/>
          <p:nvPr/>
        </p:nvSpPr>
        <p:spPr>
          <a:xfrm>
            <a:off x="2916790" y="3960325"/>
            <a:ext cx="6148294" cy="1022788"/>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ltLang="zh-CN" sz="1600" b="1" dirty="0"/>
              <a:t>Persona 3: The Community Member (Jordan, 28)</a:t>
            </a:r>
          </a:p>
          <a:p>
            <a:r>
              <a:rPr lang="en-GB" altLang="zh-CN" dirty="0"/>
              <a:t>They want to create curated reading lists to share with their Discord communities, follow trusted readers with similar tastes, and write reviews that reference tropes without having to explain them from scratch.</a:t>
            </a:r>
            <a:endParaRPr lang="en-US" altLang="zh-CN" sz="1600" dirty="0"/>
          </a:p>
          <a:p>
            <a:pPr marL="285750" lvl="1" indent="-285750">
              <a:buFont typeface="Arial" panose="020B0604020202020204" pitchFamily="34" charset="0"/>
              <a:buChar char="•"/>
            </a:pPr>
            <a:endParaRPr lang="zh-CN" altLang="zh-CN" sz="1600" dirty="0"/>
          </a:p>
        </p:txBody>
      </p:sp>
    </p:spTree>
    <p:extLst>
      <p:ext uri="{BB962C8B-B14F-4D97-AF65-F5344CB8AC3E}">
        <p14:creationId xmlns:p14="http://schemas.microsoft.com/office/powerpoint/2010/main" val="4213054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8EF53E04-25DD-624D-0B7C-5DDE777CECC5}"/>
            </a:ext>
          </a:extLst>
        </p:cNvPr>
        <p:cNvGrpSpPr/>
        <p:nvPr/>
      </p:nvGrpSpPr>
      <p:grpSpPr>
        <a:xfrm>
          <a:off x="0" y="0"/>
          <a:ext cx="0" cy="0"/>
          <a:chOff x="0" y="0"/>
          <a:chExt cx="0" cy="0"/>
        </a:xfrm>
      </p:grpSpPr>
      <p:sp>
        <p:nvSpPr>
          <p:cNvPr id="198" name="Google Shape;198;p50">
            <a:extLst>
              <a:ext uri="{FF2B5EF4-FFF2-40B4-BE49-F238E27FC236}">
                <a16:creationId xmlns:a16="http://schemas.microsoft.com/office/drawing/2014/main" id="{F6B872F4-C0F3-3D2D-CEBF-7B37A26578FC}"/>
              </a:ext>
            </a:extLst>
          </p:cNvPr>
          <p:cNvSpPr txBox="1">
            <a:spLocks noGrp="1"/>
          </p:cNvSpPr>
          <p:nvPr>
            <p:ph type="ctrTitle"/>
          </p:nvPr>
        </p:nvSpPr>
        <p:spPr>
          <a:xfrm>
            <a:off x="0" y="0"/>
            <a:ext cx="4861075" cy="1038511"/>
          </a:xfrm>
          <a:prstGeom prst="rect">
            <a:avLst/>
          </a:prstGeom>
        </p:spPr>
        <p:txBody>
          <a:bodyPr spcFirstLastPara="1" wrap="square" lIns="91425" tIns="91425" rIns="91425" bIns="91425" anchor="t" anchorCtr="0">
            <a:noAutofit/>
          </a:bodyPr>
          <a:lstStyle/>
          <a:p>
            <a:pPr marL="0" lvl="0" indent="0" rtl="0">
              <a:lnSpc>
                <a:spcPct val="100000"/>
              </a:lnSpc>
              <a:spcBef>
                <a:spcPts val="2400"/>
              </a:spcBef>
              <a:spcAft>
                <a:spcPts val="0"/>
              </a:spcAft>
              <a:buClr>
                <a:schemeClr val="dk1"/>
              </a:buClr>
              <a:buSzPts val="990"/>
              <a:buFont typeface="Arial"/>
              <a:buNone/>
            </a:pPr>
            <a:r>
              <a:rPr lang="en" sz="2770" b="1" dirty="0">
                <a:latin typeface="Georgia"/>
                <a:ea typeface="Georgia"/>
                <a:cs typeface="Georgia"/>
                <a:sym typeface="Georgia"/>
              </a:rPr>
              <a:t>3. </a:t>
            </a:r>
            <a:r>
              <a:rPr lang="en-US" sz="2770" b="1" dirty="0">
                <a:latin typeface="Georgia"/>
                <a:ea typeface="Georgia"/>
                <a:cs typeface="Georgia"/>
                <a:sym typeface="Georgia"/>
              </a:rPr>
              <a:t>Technical Stack</a:t>
            </a:r>
            <a:endParaRPr sz="2770" b="1" dirty="0">
              <a:latin typeface="Georgia"/>
              <a:ea typeface="Georgia"/>
              <a:cs typeface="Georgia"/>
              <a:sym typeface="Georgia"/>
            </a:endParaRPr>
          </a:p>
        </p:txBody>
      </p:sp>
      <p:sp>
        <p:nvSpPr>
          <p:cNvPr id="4" name="Google Shape;226;p54">
            <a:extLst>
              <a:ext uri="{FF2B5EF4-FFF2-40B4-BE49-F238E27FC236}">
                <a16:creationId xmlns:a16="http://schemas.microsoft.com/office/drawing/2014/main" id="{1585359F-C336-4764-7DD8-6FCF6CC06C24}"/>
              </a:ext>
            </a:extLst>
          </p:cNvPr>
          <p:cNvSpPr txBox="1"/>
          <p:nvPr/>
        </p:nvSpPr>
        <p:spPr>
          <a:xfrm>
            <a:off x="1384399" y="2037919"/>
            <a:ext cx="6169792" cy="2087272"/>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ltLang="zh-CN" sz="1600" dirty="0"/>
              <a:t>Frontend: HTML5, Bootstrap</a:t>
            </a:r>
          </a:p>
          <a:p>
            <a:pPr marL="285750" indent="-285750">
              <a:buFont typeface="Arial" panose="020B0604020202020204" pitchFamily="34" charset="0"/>
              <a:buChar char="•"/>
            </a:pPr>
            <a:endParaRPr lang="en-US" altLang="zh-CN" sz="1600" dirty="0"/>
          </a:p>
          <a:p>
            <a:pPr marL="285750" indent="-285750">
              <a:buFont typeface="Arial" panose="020B0604020202020204" pitchFamily="34" charset="0"/>
              <a:buChar char="•"/>
            </a:pPr>
            <a:r>
              <a:rPr lang="en-US" altLang="zh-CN" sz="1600" dirty="0"/>
              <a:t>Backend: Node.js, Express</a:t>
            </a:r>
          </a:p>
          <a:p>
            <a:pPr marL="285750" indent="-285750">
              <a:buFont typeface="Arial" panose="020B0604020202020204" pitchFamily="34" charset="0"/>
              <a:buChar char="•"/>
            </a:pPr>
            <a:endParaRPr lang="en-US" altLang="zh-CN" sz="1600" dirty="0"/>
          </a:p>
          <a:p>
            <a:pPr marL="285750" indent="-285750">
              <a:buFont typeface="Arial" panose="020B0604020202020204" pitchFamily="34" charset="0"/>
              <a:buChar char="•"/>
            </a:pPr>
            <a:r>
              <a:rPr lang="en-US" altLang="zh-CN" sz="1600" dirty="0"/>
              <a:t>Database: MongoDB</a:t>
            </a:r>
            <a:endParaRPr lang="zh-CN" altLang="zh-CN" sz="1600" dirty="0"/>
          </a:p>
        </p:txBody>
      </p:sp>
    </p:spTree>
    <p:extLst>
      <p:ext uri="{BB962C8B-B14F-4D97-AF65-F5344CB8AC3E}">
        <p14:creationId xmlns:p14="http://schemas.microsoft.com/office/powerpoint/2010/main" val="3613557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A606CB50-6269-CB1B-CAC2-88866DE48BCC}"/>
            </a:ext>
          </a:extLst>
        </p:cNvPr>
        <p:cNvGrpSpPr/>
        <p:nvPr/>
      </p:nvGrpSpPr>
      <p:grpSpPr>
        <a:xfrm>
          <a:off x="0" y="0"/>
          <a:ext cx="0" cy="0"/>
          <a:chOff x="0" y="0"/>
          <a:chExt cx="0" cy="0"/>
        </a:xfrm>
      </p:grpSpPr>
      <p:sp>
        <p:nvSpPr>
          <p:cNvPr id="198" name="Google Shape;198;p50">
            <a:extLst>
              <a:ext uri="{FF2B5EF4-FFF2-40B4-BE49-F238E27FC236}">
                <a16:creationId xmlns:a16="http://schemas.microsoft.com/office/drawing/2014/main" id="{2383E283-E8B8-5513-85B6-ED9FFB03A20C}"/>
              </a:ext>
            </a:extLst>
          </p:cNvPr>
          <p:cNvSpPr txBox="1">
            <a:spLocks noGrp="1"/>
          </p:cNvSpPr>
          <p:nvPr>
            <p:ph type="ctrTitle"/>
          </p:nvPr>
        </p:nvSpPr>
        <p:spPr>
          <a:xfrm>
            <a:off x="0" y="0"/>
            <a:ext cx="4861075" cy="1038511"/>
          </a:xfrm>
          <a:prstGeom prst="rect">
            <a:avLst/>
          </a:prstGeom>
        </p:spPr>
        <p:txBody>
          <a:bodyPr spcFirstLastPara="1" wrap="square" lIns="91425" tIns="91425" rIns="91425" bIns="91425" anchor="t" anchorCtr="0">
            <a:noAutofit/>
          </a:bodyPr>
          <a:lstStyle/>
          <a:p>
            <a:pPr marL="0" lvl="0" indent="0" rtl="0">
              <a:lnSpc>
                <a:spcPct val="100000"/>
              </a:lnSpc>
              <a:spcBef>
                <a:spcPts val="2400"/>
              </a:spcBef>
              <a:spcAft>
                <a:spcPts val="0"/>
              </a:spcAft>
              <a:buClr>
                <a:schemeClr val="dk1"/>
              </a:buClr>
              <a:buSzPts val="990"/>
              <a:buFont typeface="Arial"/>
              <a:buNone/>
            </a:pPr>
            <a:r>
              <a:rPr lang="en" sz="2770" b="1" dirty="0">
                <a:latin typeface="Georgia"/>
                <a:ea typeface="Georgia"/>
                <a:cs typeface="Georgia"/>
                <a:sym typeface="Georgia"/>
              </a:rPr>
              <a:t>4. </a:t>
            </a:r>
            <a:r>
              <a:rPr lang="en-US" sz="2770" b="1" dirty="0">
                <a:latin typeface="Georgia"/>
                <a:ea typeface="Georgia"/>
                <a:cs typeface="Georgia"/>
                <a:sym typeface="Georgia"/>
              </a:rPr>
              <a:t>Design Mockups</a:t>
            </a:r>
            <a:endParaRPr sz="2770" b="1" dirty="0">
              <a:latin typeface="Georgia"/>
              <a:ea typeface="Georgia"/>
              <a:cs typeface="Georgia"/>
              <a:sym typeface="Georgia"/>
            </a:endParaRPr>
          </a:p>
        </p:txBody>
      </p:sp>
      <p:pic>
        <p:nvPicPr>
          <p:cNvPr id="5" name="图片 4">
            <a:extLst>
              <a:ext uri="{FF2B5EF4-FFF2-40B4-BE49-F238E27FC236}">
                <a16:creationId xmlns:a16="http://schemas.microsoft.com/office/drawing/2014/main" id="{03BBCC5B-A913-D43E-C440-DDC93B8F1C38}"/>
              </a:ext>
            </a:extLst>
          </p:cNvPr>
          <p:cNvPicPr>
            <a:picLocks noChangeAspect="1"/>
          </p:cNvPicPr>
          <p:nvPr/>
        </p:nvPicPr>
        <p:blipFill>
          <a:blip r:embed="rId3"/>
          <a:stretch>
            <a:fillRect/>
          </a:stretch>
        </p:blipFill>
        <p:spPr>
          <a:xfrm>
            <a:off x="230640" y="1038511"/>
            <a:ext cx="3212884" cy="3947746"/>
          </a:xfrm>
          <a:prstGeom prst="rect">
            <a:avLst/>
          </a:prstGeom>
        </p:spPr>
      </p:pic>
      <p:pic>
        <p:nvPicPr>
          <p:cNvPr id="6" name="图片 5">
            <a:extLst>
              <a:ext uri="{FF2B5EF4-FFF2-40B4-BE49-F238E27FC236}">
                <a16:creationId xmlns:a16="http://schemas.microsoft.com/office/drawing/2014/main" id="{BCD3FD18-BDF8-5DA7-F0E0-FA4A51D7CCF5}"/>
              </a:ext>
            </a:extLst>
          </p:cNvPr>
          <p:cNvPicPr>
            <a:picLocks noChangeAspect="1"/>
          </p:cNvPicPr>
          <p:nvPr/>
        </p:nvPicPr>
        <p:blipFill>
          <a:blip r:embed="rId4"/>
          <a:stretch>
            <a:fillRect/>
          </a:stretch>
        </p:blipFill>
        <p:spPr>
          <a:xfrm>
            <a:off x="3674164" y="1038511"/>
            <a:ext cx="3205872" cy="3968766"/>
          </a:xfrm>
          <a:prstGeom prst="rect">
            <a:avLst/>
          </a:prstGeom>
        </p:spPr>
      </p:pic>
      <p:sp>
        <p:nvSpPr>
          <p:cNvPr id="9" name="Google Shape;226;p54">
            <a:extLst>
              <a:ext uri="{FF2B5EF4-FFF2-40B4-BE49-F238E27FC236}">
                <a16:creationId xmlns:a16="http://schemas.microsoft.com/office/drawing/2014/main" id="{4FDBDC5E-3083-695A-8B03-1B31D1AC0E9C}"/>
              </a:ext>
            </a:extLst>
          </p:cNvPr>
          <p:cNvSpPr txBox="1"/>
          <p:nvPr/>
        </p:nvSpPr>
        <p:spPr>
          <a:xfrm>
            <a:off x="6969065" y="1038511"/>
            <a:ext cx="2174935" cy="1166640"/>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ltLang="zh-CN" sz="1600" b="1" dirty="0"/>
              <a:t>Homepage</a:t>
            </a:r>
          </a:p>
          <a:p>
            <a:pPr lvl="1"/>
            <a:endParaRPr lang="en-US" altLang="zh-CN" dirty="0"/>
          </a:p>
          <a:p>
            <a:pPr lvl="1"/>
            <a:r>
              <a:rPr lang="en-US" altLang="zh-CN" dirty="0"/>
              <a:t>The homepage shows top 5 readings novel of each category</a:t>
            </a:r>
          </a:p>
          <a:p>
            <a:pPr marL="285750" lvl="1" indent="-285750">
              <a:buFont typeface="Arial" panose="020B0604020202020204" pitchFamily="34" charset="0"/>
              <a:buChar char="•"/>
            </a:pPr>
            <a:endParaRPr lang="zh-CN" altLang="zh-CN" sz="1600" dirty="0"/>
          </a:p>
        </p:txBody>
      </p:sp>
      <p:sp>
        <p:nvSpPr>
          <p:cNvPr id="10" name="Google Shape;226;p54">
            <a:extLst>
              <a:ext uri="{FF2B5EF4-FFF2-40B4-BE49-F238E27FC236}">
                <a16:creationId xmlns:a16="http://schemas.microsoft.com/office/drawing/2014/main" id="{4E1C3B1D-E3F4-58F5-DF29-9A9E4B843A2A}"/>
              </a:ext>
            </a:extLst>
          </p:cNvPr>
          <p:cNvSpPr txBox="1"/>
          <p:nvPr/>
        </p:nvSpPr>
        <p:spPr>
          <a:xfrm>
            <a:off x="6969064" y="2629919"/>
            <a:ext cx="2174935" cy="1166640"/>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ltLang="zh-CN" sz="1600" b="1" dirty="0"/>
              <a:t>Novel page</a:t>
            </a:r>
          </a:p>
          <a:p>
            <a:pPr lvl="1"/>
            <a:endParaRPr lang="en-US" altLang="zh-CN" dirty="0"/>
          </a:p>
          <a:p>
            <a:pPr lvl="1"/>
            <a:r>
              <a:rPr lang="en-GB" altLang="zh-CN" dirty="0"/>
              <a:t>This page displays comprehensive novel details and generates personalized recommendations based on the current novel's attributes and the user's reading preferences.</a:t>
            </a:r>
            <a:endParaRPr lang="zh-CN" altLang="zh-CN" sz="1600" dirty="0"/>
          </a:p>
        </p:txBody>
      </p:sp>
    </p:spTree>
    <p:extLst>
      <p:ext uri="{BB962C8B-B14F-4D97-AF65-F5344CB8AC3E}">
        <p14:creationId xmlns:p14="http://schemas.microsoft.com/office/powerpoint/2010/main" val="3625710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C149E5C5-50A3-6D6D-F302-25A070FDB90E}"/>
            </a:ext>
          </a:extLst>
        </p:cNvPr>
        <p:cNvGrpSpPr/>
        <p:nvPr/>
      </p:nvGrpSpPr>
      <p:grpSpPr>
        <a:xfrm>
          <a:off x="0" y="0"/>
          <a:ext cx="0" cy="0"/>
          <a:chOff x="0" y="0"/>
          <a:chExt cx="0" cy="0"/>
        </a:xfrm>
      </p:grpSpPr>
      <p:sp>
        <p:nvSpPr>
          <p:cNvPr id="198" name="Google Shape;198;p50">
            <a:extLst>
              <a:ext uri="{FF2B5EF4-FFF2-40B4-BE49-F238E27FC236}">
                <a16:creationId xmlns:a16="http://schemas.microsoft.com/office/drawing/2014/main" id="{F3FBB01D-8263-6E6D-E4DD-D7253AB689C2}"/>
              </a:ext>
            </a:extLst>
          </p:cNvPr>
          <p:cNvSpPr txBox="1">
            <a:spLocks noGrp="1"/>
          </p:cNvSpPr>
          <p:nvPr>
            <p:ph type="ctrTitle"/>
          </p:nvPr>
        </p:nvSpPr>
        <p:spPr>
          <a:xfrm>
            <a:off x="0" y="0"/>
            <a:ext cx="4861075" cy="1038511"/>
          </a:xfrm>
          <a:prstGeom prst="rect">
            <a:avLst/>
          </a:prstGeom>
        </p:spPr>
        <p:txBody>
          <a:bodyPr spcFirstLastPara="1" wrap="square" lIns="91425" tIns="91425" rIns="91425" bIns="91425" anchor="t" anchorCtr="0">
            <a:noAutofit/>
          </a:bodyPr>
          <a:lstStyle/>
          <a:p>
            <a:pPr marL="0" lvl="0" indent="0" rtl="0">
              <a:lnSpc>
                <a:spcPct val="100000"/>
              </a:lnSpc>
              <a:spcBef>
                <a:spcPts val="2400"/>
              </a:spcBef>
              <a:spcAft>
                <a:spcPts val="0"/>
              </a:spcAft>
              <a:buClr>
                <a:schemeClr val="dk1"/>
              </a:buClr>
              <a:buSzPts val="990"/>
              <a:buFont typeface="Arial"/>
              <a:buNone/>
            </a:pPr>
            <a:r>
              <a:rPr lang="en" sz="2770" b="1" dirty="0">
                <a:latin typeface="Georgia"/>
                <a:ea typeface="Georgia"/>
                <a:cs typeface="Georgia"/>
                <a:sym typeface="Georgia"/>
              </a:rPr>
              <a:t>4. </a:t>
            </a:r>
            <a:r>
              <a:rPr lang="en-US" sz="2770" b="1" dirty="0">
                <a:latin typeface="Georgia"/>
                <a:ea typeface="Georgia"/>
                <a:cs typeface="Georgia"/>
                <a:sym typeface="Georgia"/>
              </a:rPr>
              <a:t>Design Mockups</a:t>
            </a:r>
            <a:endParaRPr sz="2770" b="1" dirty="0">
              <a:latin typeface="Georgia"/>
              <a:ea typeface="Georgia"/>
              <a:cs typeface="Georgia"/>
              <a:sym typeface="Georgia"/>
            </a:endParaRPr>
          </a:p>
        </p:txBody>
      </p:sp>
      <p:pic>
        <p:nvPicPr>
          <p:cNvPr id="2" name="图片 1">
            <a:extLst>
              <a:ext uri="{FF2B5EF4-FFF2-40B4-BE49-F238E27FC236}">
                <a16:creationId xmlns:a16="http://schemas.microsoft.com/office/drawing/2014/main" id="{2A50C1EF-5766-EBFB-7050-D40144094FC9}"/>
              </a:ext>
            </a:extLst>
          </p:cNvPr>
          <p:cNvPicPr>
            <a:picLocks noChangeAspect="1"/>
          </p:cNvPicPr>
          <p:nvPr/>
        </p:nvPicPr>
        <p:blipFill>
          <a:blip r:embed="rId3"/>
          <a:stretch>
            <a:fillRect/>
          </a:stretch>
        </p:blipFill>
        <p:spPr>
          <a:xfrm>
            <a:off x="140675" y="1038511"/>
            <a:ext cx="2865902" cy="3441310"/>
          </a:xfrm>
          <a:prstGeom prst="rect">
            <a:avLst/>
          </a:prstGeom>
        </p:spPr>
      </p:pic>
      <p:pic>
        <p:nvPicPr>
          <p:cNvPr id="3" name="图片 2">
            <a:extLst>
              <a:ext uri="{FF2B5EF4-FFF2-40B4-BE49-F238E27FC236}">
                <a16:creationId xmlns:a16="http://schemas.microsoft.com/office/drawing/2014/main" id="{5F7DD689-E3AE-0605-72B8-BD1814118E46}"/>
              </a:ext>
            </a:extLst>
          </p:cNvPr>
          <p:cNvPicPr>
            <a:picLocks noChangeAspect="1"/>
          </p:cNvPicPr>
          <p:nvPr/>
        </p:nvPicPr>
        <p:blipFill>
          <a:blip r:embed="rId4"/>
          <a:stretch>
            <a:fillRect/>
          </a:stretch>
        </p:blipFill>
        <p:spPr>
          <a:xfrm>
            <a:off x="3147252" y="1038512"/>
            <a:ext cx="2840386" cy="3441309"/>
          </a:xfrm>
          <a:prstGeom prst="rect">
            <a:avLst/>
          </a:prstGeom>
        </p:spPr>
      </p:pic>
      <p:pic>
        <p:nvPicPr>
          <p:cNvPr id="4" name="图片 3">
            <a:extLst>
              <a:ext uri="{FF2B5EF4-FFF2-40B4-BE49-F238E27FC236}">
                <a16:creationId xmlns:a16="http://schemas.microsoft.com/office/drawing/2014/main" id="{3C5BDB32-A8BF-4375-B248-55EA4D75F1FF}"/>
              </a:ext>
            </a:extLst>
          </p:cNvPr>
          <p:cNvPicPr>
            <a:picLocks noChangeAspect="1"/>
          </p:cNvPicPr>
          <p:nvPr/>
        </p:nvPicPr>
        <p:blipFill>
          <a:blip r:embed="rId5"/>
          <a:stretch>
            <a:fillRect/>
          </a:stretch>
        </p:blipFill>
        <p:spPr>
          <a:xfrm>
            <a:off x="6128313" y="1038511"/>
            <a:ext cx="2813929" cy="3441309"/>
          </a:xfrm>
          <a:prstGeom prst="rect">
            <a:avLst/>
          </a:prstGeom>
        </p:spPr>
      </p:pic>
      <p:sp>
        <p:nvSpPr>
          <p:cNvPr id="7" name="Google Shape;226;p54">
            <a:extLst>
              <a:ext uri="{FF2B5EF4-FFF2-40B4-BE49-F238E27FC236}">
                <a16:creationId xmlns:a16="http://schemas.microsoft.com/office/drawing/2014/main" id="{DA754682-D520-FFF3-96EA-660C625499EB}"/>
              </a:ext>
            </a:extLst>
          </p:cNvPr>
          <p:cNvSpPr txBox="1"/>
          <p:nvPr/>
        </p:nvSpPr>
        <p:spPr>
          <a:xfrm>
            <a:off x="198138" y="3148664"/>
            <a:ext cx="2750975" cy="1873501"/>
          </a:xfrm>
          <a:prstGeom prst="rect">
            <a:avLst/>
          </a:prstGeom>
          <a:solidFill>
            <a:srgbClr val="EAFEFF">
              <a:alpha val="70313"/>
            </a:srgbClr>
          </a:solid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ltLang="zh-CN" sz="1600" b="1" dirty="0"/>
              <a:t>Discover</a:t>
            </a:r>
          </a:p>
          <a:p>
            <a:pPr lvl="1"/>
            <a:endParaRPr lang="en-US" altLang="zh-CN" dirty="0"/>
          </a:p>
          <a:p>
            <a:pPr lvl="1"/>
            <a:r>
              <a:rPr lang="en-GB" altLang="zh-CN" dirty="0"/>
              <a:t>Displays the complete novel library with advanced tag filtering, allowing you to include specific genres/tropes you want and exclude unwanted content for precise discovery.</a:t>
            </a:r>
            <a:endParaRPr lang="zh-CN" altLang="zh-CN" sz="1600" dirty="0"/>
          </a:p>
        </p:txBody>
      </p:sp>
      <p:sp>
        <p:nvSpPr>
          <p:cNvPr id="8" name="Google Shape;226;p54">
            <a:extLst>
              <a:ext uri="{FF2B5EF4-FFF2-40B4-BE49-F238E27FC236}">
                <a16:creationId xmlns:a16="http://schemas.microsoft.com/office/drawing/2014/main" id="{6C2E4146-6BE2-1BE1-1F3A-0FE553F21E61}"/>
              </a:ext>
            </a:extLst>
          </p:cNvPr>
          <p:cNvSpPr txBox="1"/>
          <p:nvPr/>
        </p:nvSpPr>
        <p:spPr>
          <a:xfrm>
            <a:off x="3191957" y="3148661"/>
            <a:ext cx="2750975" cy="1873501"/>
          </a:xfrm>
          <a:prstGeom prst="rect">
            <a:avLst/>
          </a:prstGeom>
          <a:solidFill>
            <a:srgbClr val="EAFEFF">
              <a:alpha val="70313"/>
            </a:srgbClr>
          </a:solid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ltLang="zh-CN" sz="1600" b="1" dirty="0"/>
              <a:t>Add Novel</a:t>
            </a:r>
          </a:p>
          <a:p>
            <a:pPr lvl="1"/>
            <a:endParaRPr lang="en-US" altLang="zh-CN" dirty="0"/>
          </a:p>
          <a:p>
            <a:pPr lvl="1"/>
            <a:r>
              <a:rPr lang="en-GB" altLang="zh-CN" dirty="0"/>
              <a:t>Add novels to our library.</a:t>
            </a:r>
            <a:endParaRPr lang="zh-CN" altLang="zh-CN" sz="1600" dirty="0"/>
          </a:p>
        </p:txBody>
      </p:sp>
      <p:sp>
        <p:nvSpPr>
          <p:cNvPr id="9" name="Google Shape;226;p54">
            <a:extLst>
              <a:ext uri="{FF2B5EF4-FFF2-40B4-BE49-F238E27FC236}">
                <a16:creationId xmlns:a16="http://schemas.microsoft.com/office/drawing/2014/main" id="{198B9AFA-8A5D-A3F3-4AE2-7BD3B3133131}"/>
              </a:ext>
            </a:extLst>
          </p:cNvPr>
          <p:cNvSpPr txBox="1"/>
          <p:nvPr/>
        </p:nvSpPr>
        <p:spPr>
          <a:xfrm>
            <a:off x="6159789" y="3148660"/>
            <a:ext cx="2750975" cy="1873501"/>
          </a:xfrm>
          <a:prstGeom prst="rect">
            <a:avLst/>
          </a:prstGeom>
          <a:solidFill>
            <a:srgbClr val="EAFEFF">
              <a:alpha val="70313"/>
            </a:srgbClr>
          </a:solid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US" altLang="zh-CN" sz="1600" b="1" dirty="0"/>
              <a:t>Booklist</a:t>
            </a:r>
          </a:p>
          <a:p>
            <a:pPr lvl="1"/>
            <a:endParaRPr lang="en-US" altLang="zh-CN" dirty="0"/>
          </a:p>
          <a:p>
            <a:pPr lvl="1"/>
            <a:r>
              <a:rPr lang="en-GB" altLang="zh-CN" dirty="0"/>
              <a:t>A community-driven booklist feature enabling users to discover, follow, and curate shared reading collections from other members.</a:t>
            </a:r>
            <a:endParaRPr lang="zh-CN" altLang="zh-CN" sz="1600" dirty="0"/>
          </a:p>
        </p:txBody>
      </p:sp>
    </p:spTree>
    <p:extLst>
      <p:ext uri="{BB962C8B-B14F-4D97-AF65-F5344CB8AC3E}">
        <p14:creationId xmlns:p14="http://schemas.microsoft.com/office/powerpoint/2010/main" val="3538124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AB7B58A3-FC41-0C80-678B-DBE817702D86}"/>
            </a:ext>
          </a:extLst>
        </p:cNvPr>
        <p:cNvGrpSpPr/>
        <p:nvPr/>
      </p:nvGrpSpPr>
      <p:grpSpPr>
        <a:xfrm>
          <a:off x="0" y="0"/>
          <a:ext cx="0" cy="0"/>
          <a:chOff x="0" y="0"/>
          <a:chExt cx="0" cy="0"/>
        </a:xfrm>
      </p:grpSpPr>
      <p:sp>
        <p:nvSpPr>
          <p:cNvPr id="198" name="Google Shape;198;p50">
            <a:extLst>
              <a:ext uri="{FF2B5EF4-FFF2-40B4-BE49-F238E27FC236}">
                <a16:creationId xmlns:a16="http://schemas.microsoft.com/office/drawing/2014/main" id="{A3B76A2C-F194-E3E0-C061-973841D95D3A}"/>
              </a:ext>
            </a:extLst>
          </p:cNvPr>
          <p:cNvSpPr txBox="1">
            <a:spLocks noGrp="1"/>
          </p:cNvSpPr>
          <p:nvPr>
            <p:ph type="ctrTitle"/>
          </p:nvPr>
        </p:nvSpPr>
        <p:spPr>
          <a:xfrm>
            <a:off x="0" y="0"/>
            <a:ext cx="4259179" cy="1038511"/>
          </a:xfrm>
          <a:prstGeom prst="rect">
            <a:avLst/>
          </a:prstGeom>
        </p:spPr>
        <p:txBody>
          <a:bodyPr spcFirstLastPara="1" wrap="square" lIns="91425" tIns="91425" rIns="91425" bIns="91425" anchor="t" anchorCtr="0">
            <a:noAutofit/>
          </a:bodyPr>
          <a:lstStyle/>
          <a:p>
            <a:pPr marL="0" lvl="0" indent="0" rtl="0">
              <a:lnSpc>
                <a:spcPct val="100000"/>
              </a:lnSpc>
              <a:spcBef>
                <a:spcPts val="2400"/>
              </a:spcBef>
              <a:spcAft>
                <a:spcPts val="0"/>
              </a:spcAft>
              <a:buClr>
                <a:schemeClr val="dk1"/>
              </a:buClr>
              <a:buSzPts val="990"/>
              <a:buFont typeface="Arial"/>
              <a:buNone/>
            </a:pPr>
            <a:r>
              <a:rPr lang="en" sz="2770" b="1" dirty="0">
                <a:latin typeface="Georgia"/>
                <a:ea typeface="Georgia"/>
                <a:cs typeface="Georgia"/>
                <a:sym typeface="Georgia"/>
              </a:rPr>
              <a:t>5. </a:t>
            </a:r>
            <a:r>
              <a:rPr lang="en-US" sz="2770" b="1" dirty="0">
                <a:latin typeface="Georgia"/>
                <a:ea typeface="Georgia"/>
                <a:cs typeface="Georgia"/>
                <a:sym typeface="Georgia"/>
              </a:rPr>
              <a:t>Demo</a:t>
            </a:r>
            <a:endParaRPr sz="2770" b="1" dirty="0">
              <a:latin typeface="Georgia"/>
              <a:ea typeface="Georgia"/>
              <a:cs typeface="Georgia"/>
              <a:sym typeface="Georgia"/>
            </a:endParaRPr>
          </a:p>
        </p:txBody>
      </p:sp>
      <p:sp>
        <p:nvSpPr>
          <p:cNvPr id="6" name="圆角矩形 5">
            <a:hlinkClick r:id="rId3"/>
            <a:extLst>
              <a:ext uri="{FF2B5EF4-FFF2-40B4-BE49-F238E27FC236}">
                <a16:creationId xmlns:a16="http://schemas.microsoft.com/office/drawing/2014/main" id="{CD48149F-DA32-16C8-0B0B-44830C9C8CF7}"/>
              </a:ext>
            </a:extLst>
          </p:cNvPr>
          <p:cNvSpPr/>
          <p:nvPr/>
        </p:nvSpPr>
        <p:spPr>
          <a:xfrm>
            <a:off x="1480010" y="4259180"/>
            <a:ext cx="1997494" cy="589547"/>
          </a:xfrm>
          <a:prstGeom prst="round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Go to My Website</a:t>
            </a:r>
            <a:endParaRPr kumimoji="1" lang="zh-CN" altLang="en-US" dirty="0"/>
          </a:p>
        </p:txBody>
      </p:sp>
      <p:sp>
        <p:nvSpPr>
          <p:cNvPr id="7" name="圆角矩形 6">
            <a:hlinkClick r:id="rId4"/>
            <a:extLst>
              <a:ext uri="{FF2B5EF4-FFF2-40B4-BE49-F238E27FC236}">
                <a16:creationId xmlns:a16="http://schemas.microsoft.com/office/drawing/2014/main" id="{7367A69C-7023-0559-A6E5-FD3703E59B7C}"/>
              </a:ext>
            </a:extLst>
          </p:cNvPr>
          <p:cNvSpPr/>
          <p:nvPr/>
        </p:nvSpPr>
        <p:spPr>
          <a:xfrm>
            <a:off x="4844842" y="4259180"/>
            <a:ext cx="1997494" cy="589547"/>
          </a:xfrm>
          <a:prstGeom prst="roundRect">
            <a:avLst/>
          </a:prstGeom>
          <a:solidFill>
            <a:srgbClr val="EAFE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accent1">
                    <a:lumMod val="50000"/>
                  </a:schemeClr>
                </a:solidFill>
              </a:rPr>
              <a:t>Demo Video</a:t>
            </a:r>
            <a:endParaRPr kumimoji="1" lang="zh-CN" altLang="en-US" dirty="0">
              <a:solidFill>
                <a:schemeClr val="accent1">
                  <a:lumMod val="50000"/>
                </a:schemeClr>
              </a:solidFill>
            </a:endParaRPr>
          </a:p>
        </p:txBody>
      </p:sp>
      <p:pic>
        <p:nvPicPr>
          <p:cNvPr id="4" name="图片 3">
            <a:extLst>
              <a:ext uri="{FF2B5EF4-FFF2-40B4-BE49-F238E27FC236}">
                <a16:creationId xmlns:a16="http://schemas.microsoft.com/office/drawing/2014/main" id="{DDDC2274-0140-AB8C-26DE-E67AC98FE817}"/>
              </a:ext>
            </a:extLst>
          </p:cNvPr>
          <p:cNvPicPr>
            <a:picLocks noChangeAspect="1"/>
          </p:cNvPicPr>
          <p:nvPr/>
        </p:nvPicPr>
        <p:blipFill>
          <a:blip r:embed="rId5"/>
          <a:stretch>
            <a:fillRect/>
          </a:stretch>
        </p:blipFill>
        <p:spPr>
          <a:xfrm>
            <a:off x="186305" y="1038511"/>
            <a:ext cx="3470980" cy="2337492"/>
          </a:xfrm>
          <a:prstGeom prst="rect">
            <a:avLst/>
          </a:prstGeom>
          <a:ln w="38100">
            <a:solidFill>
              <a:srgbClr val="D0E1E3"/>
            </a:solidFill>
          </a:ln>
        </p:spPr>
      </p:pic>
      <p:pic>
        <p:nvPicPr>
          <p:cNvPr id="8" name="图片 7">
            <a:extLst>
              <a:ext uri="{FF2B5EF4-FFF2-40B4-BE49-F238E27FC236}">
                <a16:creationId xmlns:a16="http://schemas.microsoft.com/office/drawing/2014/main" id="{EEE37D9C-9AE6-8C65-09EC-81B8FCBCA4AF}"/>
              </a:ext>
            </a:extLst>
          </p:cNvPr>
          <p:cNvPicPr>
            <a:picLocks noChangeAspect="1"/>
          </p:cNvPicPr>
          <p:nvPr/>
        </p:nvPicPr>
        <p:blipFill>
          <a:blip r:embed="rId6"/>
          <a:stretch>
            <a:fillRect/>
          </a:stretch>
        </p:blipFill>
        <p:spPr>
          <a:xfrm>
            <a:off x="907067" y="1669702"/>
            <a:ext cx="3470980" cy="2274364"/>
          </a:xfrm>
          <a:prstGeom prst="rect">
            <a:avLst/>
          </a:prstGeom>
        </p:spPr>
      </p:pic>
      <p:pic>
        <p:nvPicPr>
          <p:cNvPr id="9" name="图片 8">
            <a:extLst>
              <a:ext uri="{FF2B5EF4-FFF2-40B4-BE49-F238E27FC236}">
                <a16:creationId xmlns:a16="http://schemas.microsoft.com/office/drawing/2014/main" id="{92BE84B9-CDEC-7303-50A6-1340081DE4E5}"/>
              </a:ext>
            </a:extLst>
          </p:cNvPr>
          <p:cNvPicPr>
            <a:picLocks noChangeAspect="1"/>
          </p:cNvPicPr>
          <p:nvPr/>
        </p:nvPicPr>
        <p:blipFill>
          <a:blip r:embed="rId7"/>
          <a:stretch>
            <a:fillRect/>
          </a:stretch>
        </p:blipFill>
        <p:spPr>
          <a:xfrm>
            <a:off x="3149333" y="519255"/>
            <a:ext cx="3470980" cy="2367657"/>
          </a:xfrm>
          <a:prstGeom prst="rect">
            <a:avLst/>
          </a:prstGeom>
        </p:spPr>
      </p:pic>
      <p:pic>
        <p:nvPicPr>
          <p:cNvPr id="10" name="图片 9">
            <a:extLst>
              <a:ext uri="{FF2B5EF4-FFF2-40B4-BE49-F238E27FC236}">
                <a16:creationId xmlns:a16="http://schemas.microsoft.com/office/drawing/2014/main" id="{5C993527-27BC-1384-4490-18D09187EBBA}"/>
              </a:ext>
            </a:extLst>
          </p:cNvPr>
          <p:cNvPicPr>
            <a:picLocks noChangeAspect="1"/>
          </p:cNvPicPr>
          <p:nvPr/>
        </p:nvPicPr>
        <p:blipFill>
          <a:blip r:embed="rId8"/>
          <a:stretch>
            <a:fillRect/>
          </a:stretch>
        </p:blipFill>
        <p:spPr>
          <a:xfrm>
            <a:off x="4572000" y="1703083"/>
            <a:ext cx="3457991" cy="2367657"/>
          </a:xfrm>
          <a:prstGeom prst="rect">
            <a:avLst/>
          </a:prstGeom>
        </p:spPr>
      </p:pic>
      <p:pic>
        <p:nvPicPr>
          <p:cNvPr id="11" name="图片 10">
            <a:extLst>
              <a:ext uri="{FF2B5EF4-FFF2-40B4-BE49-F238E27FC236}">
                <a16:creationId xmlns:a16="http://schemas.microsoft.com/office/drawing/2014/main" id="{9BE46F46-6353-49AB-4DF0-553408E1D3FA}"/>
              </a:ext>
            </a:extLst>
          </p:cNvPr>
          <p:cNvPicPr>
            <a:picLocks noChangeAspect="1"/>
          </p:cNvPicPr>
          <p:nvPr/>
        </p:nvPicPr>
        <p:blipFill>
          <a:blip r:embed="rId9"/>
          <a:stretch>
            <a:fillRect/>
          </a:stretch>
        </p:blipFill>
        <p:spPr>
          <a:xfrm>
            <a:off x="5391599" y="774784"/>
            <a:ext cx="3470980" cy="2367657"/>
          </a:xfrm>
          <a:prstGeom prst="rect">
            <a:avLst/>
          </a:prstGeom>
        </p:spPr>
      </p:pic>
    </p:spTree>
    <p:extLst>
      <p:ext uri="{BB962C8B-B14F-4D97-AF65-F5344CB8AC3E}">
        <p14:creationId xmlns:p14="http://schemas.microsoft.com/office/powerpoint/2010/main" val="120804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27FE2F8D-6A4A-5E64-35F6-110A9CBC8A50}"/>
            </a:ext>
          </a:extLst>
        </p:cNvPr>
        <p:cNvGrpSpPr/>
        <p:nvPr/>
      </p:nvGrpSpPr>
      <p:grpSpPr>
        <a:xfrm>
          <a:off x="0" y="0"/>
          <a:ext cx="0" cy="0"/>
          <a:chOff x="0" y="0"/>
          <a:chExt cx="0" cy="0"/>
        </a:xfrm>
      </p:grpSpPr>
      <p:sp>
        <p:nvSpPr>
          <p:cNvPr id="198" name="Google Shape;198;p50">
            <a:extLst>
              <a:ext uri="{FF2B5EF4-FFF2-40B4-BE49-F238E27FC236}">
                <a16:creationId xmlns:a16="http://schemas.microsoft.com/office/drawing/2014/main" id="{42C3D5FF-00ED-6D01-F6FC-84B734A3465A}"/>
              </a:ext>
            </a:extLst>
          </p:cNvPr>
          <p:cNvSpPr txBox="1">
            <a:spLocks noGrp="1"/>
          </p:cNvSpPr>
          <p:nvPr>
            <p:ph type="ctrTitle"/>
          </p:nvPr>
        </p:nvSpPr>
        <p:spPr>
          <a:xfrm>
            <a:off x="0" y="0"/>
            <a:ext cx="5678905" cy="1038511"/>
          </a:xfrm>
          <a:prstGeom prst="rect">
            <a:avLst/>
          </a:prstGeom>
        </p:spPr>
        <p:txBody>
          <a:bodyPr spcFirstLastPara="1" wrap="square" lIns="91425" tIns="91425" rIns="91425" bIns="91425" anchor="t" anchorCtr="0">
            <a:noAutofit/>
          </a:bodyPr>
          <a:lstStyle/>
          <a:p>
            <a:pPr marL="0" lvl="0" indent="0" rtl="0">
              <a:lnSpc>
                <a:spcPct val="100000"/>
              </a:lnSpc>
              <a:spcBef>
                <a:spcPts val="2400"/>
              </a:spcBef>
              <a:spcAft>
                <a:spcPts val="0"/>
              </a:spcAft>
              <a:buClr>
                <a:schemeClr val="dk1"/>
              </a:buClr>
              <a:buSzPts val="990"/>
              <a:buFont typeface="Arial"/>
              <a:buNone/>
            </a:pPr>
            <a:r>
              <a:rPr lang="en" sz="2770" b="1" dirty="0">
                <a:latin typeface="Georgia"/>
                <a:ea typeface="Georgia"/>
                <a:cs typeface="Georgia"/>
                <a:sym typeface="Georgia"/>
              </a:rPr>
              <a:t>6. </a:t>
            </a:r>
            <a:r>
              <a:rPr lang="en-US" sz="2770" b="1" dirty="0">
                <a:latin typeface="Georgia"/>
                <a:ea typeface="Georgia"/>
                <a:cs typeface="Georgia"/>
                <a:sym typeface="Georgia"/>
              </a:rPr>
              <a:t>What I’m Most Proud Of</a:t>
            </a:r>
            <a:endParaRPr sz="2770" b="1" dirty="0">
              <a:latin typeface="Georgia"/>
              <a:ea typeface="Georgia"/>
              <a:cs typeface="Georgia"/>
              <a:sym typeface="Georgia"/>
            </a:endParaRPr>
          </a:p>
        </p:txBody>
      </p:sp>
      <p:sp>
        <p:nvSpPr>
          <p:cNvPr id="4" name="Google Shape;226;p54">
            <a:extLst>
              <a:ext uri="{FF2B5EF4-FFF2-40B4-BE49-F238E27FC236}">
                <a16:creationId xmlns:a16="http://schemas.microsoft.com/office/drawing/2014/main" id="{C8F90A3A-27D2-1E3F-A47A-2578196838BC}"/>
              </a:ext>
            </a:extLst>
          </p:cNvPr>
          <p:cNvSpPr txBox="1"/>
          <p:nvPr/>
        </p:nvSpPr>
        <p:spPr>
          <a:xfrm>
            <a:off x="1143768" y="1382269"/>
            <a:ext cx="6169792" cy="2714554"/>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GB" altLang="zh-CN" sz="1600" b="1" dirty="0"/>
              <a:t>Two Mode Layout: </a:t>
            </a:r>
            <a:r>
              <a:rPr lang="en-GB" altLang="zh-CN" sz="1600" dirty="0"/>
              <a:t>Our website can be viewed in both day and night mode.</a:t>
            </a:r>
          </a:p>
          <a:p>
            <a:endParaRPr lang="en-US" altLang="zh-CN" sz="1600" dirty="0"/>
          </a:p>
          <a:p>
            <a:pPr marL="285750" indent="-285750">
              <a:buFont typeface="Arial" panose="020B0604020202020204" pitchFamily="34" charset="0"/>
              <a:buChar char="•"/>
            </a:pPr>
            <a:r>
              <a:rPr lang="en-GB" altLang="zh-CN" sz="1600" b="1" dirty="0"/>
              <a:t>Responsive &amp; organized: </a:t>
            </a:r>
            <a:r>
              <a:rPr lang="en-GB" altLang="zh-CN" sz="1600" dirty="0"/>
              <a:t>The page will adapt seamlessly to both desktop browsers and mobile devices, with a clean, well-structured organization</a:t>
            </a:r>
            <a:endParaRPr lang="en-US" altLang="zh-CN" sz="1600" dirty="0"/>
          </a:p>
        </p:txBody>
      </p:sp>
    </p:spTree>
    <p:extLst>
      <p:ext uri="{BB962C8B-B14F-4D97-AF65-F5344CB8AC3E}">
        <p14:creationId xmlns:p14="http://schemas.microsoft.com/office/powerpoint/2010/main" val="2751233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9A3E10B8-C021-4E11-22DA-99318A4E152F}"/>
            </a:ext>
          </a:extLst>
        </p:cNvPr>
        <p:cNvGrpSpPr/>
        <p:nvPr/>
      </p:nvGrpSpPr>
      <p:grpSpPr>
        <a:xfrm>
          <a:off x="0" y="0"/>
          <a:ext cx="0" cy="0"/>
          <a:chOff x="0" y="0"/>
          <a:chExt cx="0" cy="0"/>
        </a:xfrm>
      </p:grpSpPr>
      <p:sp>
        <p:nvSpPr>
          <p:cNvPr id="198" name="Google Shape;198;p50">
            <a:extLst>
              <a:ext uri="{FF2B5EF4-FFF2-40B4-BE49-F238E27FC236}">
                <a16:creationId xmlns:a16="http://schemas.microsoft.com/office/drawing/2014/main" id="{7A372ABA-3C8B-A9A1-BE6B-BF600057B163}"/>
              </a:ext>
            </a:extLst>
          </p:cNvPr>
          <p:cNvSpPr txBox="1">
            <a:spLocks noGrp="1"/>
          </p:cNvSpPr>
          <p:nvPr>
            <p:ph type="ctrTitle"/>
          </p:nvPr>
        </p:nvSpPr>
        <p:spPr>
          <a:xfrm>
            <a:off x="0" y="0"/>
            <a:ext cx="4259179" cy="1038511"/>
          </a:xfrm>
          <a:prstGeom prst="rect">
            <a:avLst/>
          </a:prstGeom>
        </p:spPr>
        <p:txBody>
          <a:bodyPr spcFirstLastPara="1" wrap="square" lIns="91425" tIns="91425" rIns="91425" bIns="91425" anchor="t" anchorCtr="0">
            <a:noAutofit/>
          </a:bodyPr>
          <a:lstStyle/>
          <a:p>
            <a:pPr marL="0" lvl="0" indent="0" rtl="0">
              <a:lnSpc>
                <a:spcPct val="100000"/>
              </a:lnSpc>
              <a:spcBef>
                <a:spcPts val="2400"/>
              </a:spcBef>
              <a:spcAft>
                <a:spcPts val="0"/>
              </a:spcAft>
              <a:buClr>
                <a:schemeClr val="dk1"/>
              </a:buClr>
              <a:buSzPts val="990"/>
              <a:buFont typeface="Arial"/>
              <a:buNone/>
            </a:pPr>
            <a:r>
              <a:rPr lang="en" sz="2770" b="1" dirty="0">
                <a:latin typeface="Georgia"/>
                <a:ea typeface="Georgia"/>
                <a:cs typeface="Georgia"/>
                <a:sym typeface="Georgia"/>
              </a:rPr>
              <a:t>7. </a:t>
            </a:r>
            <a:r>
              <a:rPr lang="en-US" sz="2770" b="1" dirty="0">
                <a:latin typeface="Georgia"/>
                <a:ea typeface="Georgia"/>
                <a:cs typeface="Georgia"/>
                <a:sym typeface="Georgia"/>
              </a:rPr>
              <a:t>Challenges</a:t>
            </a:r>
            <a:endParaRPr sz="2770" b="1" dirty="0">
              <a:latin typeface="Georgia"/>
              <a:ea typeface="Georgia"/>
              <a:cs typeface="Georgia"/>
              <a:sym typeface="Georgia"/>
            </a:endParaRPr>
          </a:p>
        </p:txBody>
      </p:sp>
      <p:sp>
        <p:nvSpPr>
          <p:cNvPr id="4" name="Google Shape;226;p54">
            <a:extLst>
              <a:ext uri="{FF2B5EF4-FFF2-40B4-BE49-F238E27FC236}">
                <a16:creationId xmlns:a16="http://schemas.microsoft.com/office/drawing/2014/main" id="{C4FFF160-94B0-86E0-53D1-E8E3A14B0C1C}"/>
              </a:ext>
            </a:extLst>
          </p:cNvPr>
          <p:cNvSpPr txBox="1"/>
          <p:nvPr/>
        </p:nvSpPr>
        <p:spPr>
          <a:xfrm>
            <a:off x="490329" y="1139311"/>
            <a:ext cx="7673009" cy="2864878"/>
          </a:xfrm>
          <a:prstGeom prst="rect">
            <a:avLst/>
          </a:prstGeom>
          <a:noFill/>
          <a:ln>
            <a:noFill/>
          </a:ln>
        </p:spPr>
        <p:txBody>
          <a:bodyPr spcFirstLastPara="1" wrap="square" lIns="91425" tIns="91425" rIns="91425" bIns="91425" anchor="t" anchorCtr="0">
            <a:noAutofit/>
          </a:bodyPr>
          <a:lstStyle/>
          <a:p>
            <a:pPr marL="285750" indent="-285750">
              <a:buFont typeface="Arial" panose="020B0604020202020204" pitchFamily="34" charset="0"/>
              <a:buChar char="•"/>
            </a:pPr>
            <a:r>
              <a:rPr lang="en-GB" altLang="zh-CN" sz="1600" b="1" dirty="0"/>
              <a:t>Recommendation System: </a:t>
            </a:r>
            <a:r>
              <a:rPr lang="en-GB" altLang="zh-CN" sz="1600" dirty="0"/>
              <a:t>Due to the absence of user </a:t>
            </a:r>
            <a:r>
              <a:rPr lang="en-GB" altLang="zh-CN" sz="1600" dirty="0" err="1"/>
              <a:t>behavior</a:t>
            </a:r>
            <a:r>
              <a:rPr lang="en-GB" altLang="zh-CN" sz="1600" dirty="0"/>
              <a:t> data at launch, the system implements a content-based filtering approach using machine learning clustering techniques. The algorithm </a:t>
            </a:r>
            <a:r>
              <a:rPr lang="en-GB" altLang="zh-CN" sz="1600" dirty="0" err="1"/>
              <a:t>analyzes</a:t>
            </a:r>
            <a:r>
              <a:rPr lang="en-GB" altLang="zh-CN" sz="1600" dirty="0"/>
              <a:t> novel metadata—specifically genre categories and tag combinations—to compute similarity scores between novels. When a user views a specific title, the system identifies and surfaces the top 5 novels with the highest tag overlap and genre alignment</a:t>
            </a:r>
          </a:p>
          <a:p>
            <a:pPr marL="285750" indent="-285750">
              <a:buFont typeface="Arial" panose="020B0604020202020204" pitchFamily="34" charset="0"/>
              <a:buChar char="•"/>
            </a:pPr>
            <a:endParaRPr lang="en-US" altLang="zh-CN" sz="1600" dirty="0"/>
          </a:p>
          <a:p>
            <a:pPr marL="285750" indent="-285750">
              <a:buFont typeface="Arial" panose="020B0604020202020204" pitchFamily="34" charset="0"/>
              <a:buChar char="•"/>
            </a:pPr>
            <a:endParaRPr lang="en-US" altLang="zh-CN" sz="1600" dirty="0"/>
          </a:p>
        </p:txBody>
      </p:sp>
    </p:spTree>
    <p:extLst>
      <p:ext uri="{BB962C8B-B14F-4D97-AF65-F5344CB8AC3E}">
        <p14:creationId xmlns:p14="http://schemas.microsoft.com/office/powerpoint/2010/main" val="1651486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7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Thanks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otalTime>156</TotalTime>
  <Words>543</Words>
  <Application>Microsoft Macintosh PowerPoint</Application>
  <PresentationFormat>全屏显示(16:9)</PresentationFormat>
  <Paragraphs>49</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10</vt:i4>
      </vt:variant>
    </vt:vector>
  </HeadingPairs>
  <TitlesOfParts>
    <vt:vector size="13" baseType="lpstr">
      <vt:lpstr>Arial</vt:lpstr>
      <vt:lpstr>Georgia</vt:lpstr>
      <vt:lpstr>Simple Light</vt:lpstr>
      <vt:lpstr>Project 2: WebNovel Nexus </vt:lpstr>
      <vt:lpstr>1. Project Objective</vt:lpstr>
      <vt:lpstr>2. User Personas</vt:lpstr>
      <vt:lpstr>3. Technical Stack</vt:lpstr>
      <vt:lpstr>4. Design Mockups</vt:lpstr>
      <vt:lpstr>4. Design Mockups</vt:lpstr>
      <vt:lpstr>5. Demo</vt:lpstr>
      <vt:lpstr>6. What I’m Most Proud Of</vt:lpstr>
      <vt:lpstr>7. Challenges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XING ZHOU</cp:lastModifiedBy>
  <cp:revision>7</cp:revision>
  <dcterms:modified xsi:type="dcterms:W3CDTF">2026-02-19T06:48:57Z</dcterms:modified>
</cp:coreProperties>
</file>